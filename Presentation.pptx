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48" y="8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8FBEF-6CE9-4F07-970C-115598BD794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5174-F850-41B3-BEEB-4821080B8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52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8FBEF-6CE9-4F07-970C-115598BD794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5174-F850-41B3-BEEB-4821080B8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73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8FBEF-6CE9-4F07-970C-115598BD794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5174-F850-41B3-BEEB-4821080B8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050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8FBEF-6CE9-4F07-970C-115598BD794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5174-F850-41B3-BEEB-4821080B8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27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8FBEF-6CE9-4F07-970C-115598BD794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5174-F850-41B3-BEEB-4821080B8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309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8FBEF-6CE9-4F07-970C-115598BD794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5174-F850-41B3-BEEB-4821080B8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93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8FBEF-6CE9-4F07-970C-115598BD794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5174-F850-41B3-BEEB-4821080B8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831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8FBEF-6CE9-4F07-970C-115598BD794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5174-F850-41B3-BEEB-4821080B8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57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8FBEF-6CE9-4F07-970C-115598BD794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5174-F850-41B3-BEEB-4821080B8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70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8FBEF-6CE9-4F07-970C-115598BD794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5174-F850-41B3-BEEB-4821080B8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933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8FBEF-6CE9-4F07-970C-115598BD794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5174-F850-41B3-BEEB-4821080B8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7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8FBEF-6CE9-4F07-970C-115598BD7945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55174-F850-41B3-BEEB-4821080B8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894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5 | Light cream paper texture Images - Free Download on Freepik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1999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37270" y="441051"/>
            <a:ext cx="11511165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Στ</a:t>
            </a:r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ατιστική &amp; Οπτικοποίηση Δεδομένων </a:t>
            </a:r>
          </a:p>
          <a:p>
            <a:pPr algn="ctr"/>
            <a:r>
              <a:rPr lang="el-G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Εργασία Χειμερινού Εξαμήνου 2025</a:t>
            </a:r>
          </a:p>
          <a:p>
            <a:pPr algn="ctr"/>
            <a:endParaRPr lang="el-G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l-G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l-G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Ανάλυση και Οπτικοποίηση Προγνωστικών Παραγόντων Καρδιαγγειακής Νόσου: Δεκαετή και Εικοσαετή Μελέτη</a:t>
            </a:r>
          </a:p>
          <a:p>
            <a:pPr algn="ctr"/>
            <a:endParaRPr lang="el-G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l-G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l-GR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Τσιλιμπώκος Σπυρίδων 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ais25118</a:t>
            </a:r>
            <a:endParaRPr lang="el-GR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l-G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Σύντομη Ανασκόπηση Αποτελεσμάτων</a:t>
            </a:r>
            <a:endParaRPr lang="el-GR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l-G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aintStrokes/>
                    </a14:imgEffect>
                    <a14:imgEffect>
                      <a14:colorTemperature colorTemp="7938"/>
                    </a14:imgEffect>
                    <a14:imgEffect>
                      <a14:saturation sat="107000"/>
                    </a14:imgEffect>
                    <a14:imgEffect>
                      <a14:brightnessContrast bright="17000" contrast="-1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9201" y="3602343"/>
            <a:ext cx="3456136" cy="345613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14169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5 | Light cream paper texture Images - Free Download on Freepik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1999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92" y="1461424"/>
            <a:ext cx="4738871" cy="42979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02162"/>
            <a:ext cx="1320152" cy="260602"/>
          </a:xfrm>
          <a:prstGeom prst="rect">
            <a:avLst/>
          </a:prstGeom>
          <a:solidFill>
            <a:schemeClr val="accent2">
              <a:lumMod val="40000"/>
              <a:lumOff val="60000"/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67272" y="47797"/>
            <a:ext cx="1152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Heatmap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428455" y="2732334"/>
            <a:ext cx="6096000" cy="139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l-GR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πιβεβαιώνουμε </a:t>
            </a: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την </a:t>
            </a:r>
            <a:r>
              <a:rPr lang="el-GR" sz="20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ισχυρή θετική συσχέτιση </a:t>
            </a: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μεταξύ </a:t>
            </a:r>
            <a:r>
              <a:rPr lang="el-GR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Συστολικής (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SBP</a:t>
            </a:r>
            <a:r>
              <a:rPr lang="el-GR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και </a:t>
            </a:r>
            <a:r>
              <a:rPr lang="el-GR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Διαστολικής (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DBP</a:t>
            </a:r>
            <a:r>
              <a:rPr lang="el-GR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πίεσης, </a:t>
            </a:r>
            <a:r>
              <a:rPr lang="el-GR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καθώς και </a:t>
            </a: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μεταξύ </a:t>
            </a:r>
            <a:r>
              <a:rPr lang="el-GR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Βάρους</a:t>
            </a: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και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BMI</a:t>
            </a: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γεγονός που πιστοποιεί την εγκυρότητα των δεδομένων μας.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39092" y="1276758"/>
            <a:ext cx="44758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Ξεκινώντας με την ανάλυση </a:t>
            </a:r>
            <a:r>
              <a:rPr lang="el-GR" b="1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συσχετίσεων... 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70546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5 | Light cream paper texture Images - Free Download on Freepik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1999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88535"/>
            <a:ext cx="4387816" cy="324649"/>
          </a:xfrm>
          <a:prstGeom prst="rect">
            <a:avLst/>
          </a:prstGeom>
          <a:solidFill>
            <a:schemeClr val="accent2">
              <a:lumMod val="40000"/>
              <a:lumOff val="60000"/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3382" y="38114"/>
            <a:ext cx="4254434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l-GR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Ποιοι παράγοντες διαφέρουν σημαντικά; 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26" y="1111354"/>
            <a:ext cx="2762218" cy="28264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3562" y="948100"/>
            <a:ext cx="28018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/>
              <a:t>Summary of T−tests (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P−values</a:t>
            </a:r>
            <a:r>
              <a:rPr lang="en-US" sz="1600" b="1" dirty="0"/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94480"/>
            <a:ext cx="2049638" cy="324649"/>
          </a:xfrm>
          <a:prstGeom prst="rect">
            <a:avLst/>
          </a:prstGeom>
          <a:solidFill>
            <a:schemeClr val="accent2">
              <a:lumMod val="40000"/>
              <a:lumOff val="60000"/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2512" y="2915185"/>
            <a:ext cx="4974336" cy="39428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7484" y="472139"/>
            <a:ext cx="2012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Univariate Analysis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753" y="2915185"/>
            <a:ext cx="4825247" cy="394281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477415" y="1032104"/>
            <a:ext cx="8714585" cy="1277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l-G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Οι έλεγχοι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l-G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tests</a:t>
            </a:r>
            <a:r>
              <a:rPr lang="el-G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έδειξαν </a:t>
            </a:r>
            <a:r>
              <a:rPr lang="el-GR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στατιστικά σημαντικές διαφορές </a:t>
            </a:r>
            <a:r>
              <a:rPr lang="el-G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l-G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&lt;0.05</a:t>
            </a:r>
            <a:r>
              <a:rPr lang="el-G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σχεδόν σε όλους τους ποσοτικούς δείκτες. Ειδικά για την έκβαση των 20 ετών (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CVD</a:t>
            </a:r>
            <a:r>
              <a:rPr lang="el-G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20), η </a:t>
            </a:r>
            <a:r>
              <a:rPr lang="el-GR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Ηλικία</a:t>
            </a:r>
            <a:r>
              <a:rPr lang="el-G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l-GR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&lt;2.2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l-GR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−16</a:t>
            </a:r>
            <a:r>
              <a:rPr lang="el-G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και η </a:t>
            </a:r>
            <a:r>
              <a:rPr lang="el-GR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Συστολική Πίεση</a:t>
            </a:r>
            <a:r>
              <a:rPr lang="el-G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l-GR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&lt;10−7</a:t>
            </a:r>
            <a:r>
              <a:rPr lang="el-G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είναι οι ισχυρότεροι διαχωριστικοί παράγοντες. Όπως φαίνεται στο θηκόγραμμα, οι ασθενείς έχουν σαφώς υψηλότερες τιμές.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383380" y="3550446"/>
            <a:ext cx="2120557" cy="237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383380" y="2870200"/>
            <a:ext cx="1985963" cy="7145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738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5 | Light cream paper texture Images - Free Download on Freepik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1999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255560"/>
            <a:ext cx="4610100" cy="324649"/>
          </a:xfrm>
          <a:prstGeom prst="rect">
            <a:avLst/>
          </a:prstGeom>
          <a:solidFill>
            <a:schemeClr val="accent2">
              <a:lumMod val="40000"/>
              <a:lumOff val="60000"/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02854" y="233218"/>
            <a:ext cx="4624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Ο Ρόλος της Υπέρτασης &amp; του Καπνίσματος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82" y="972977"/>
            <a:ext cx="6153118" cy="491204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1681" y="250859"/>
            <a:ext cx="5092700" cy="3067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l-G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Η </a:t>
            </a:r>
            <a:r>
              <a:rPr lang="el-GR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Υπέρταση</a:t>
            </a:r>
            <a:r>
              <a:rPr lang="el-G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HTN</a:t>
            </a:r>
            <a:r>
              <a:rPr lang="el-G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αναδεικνύεται ως </a:t>
            </a:r>
            <a:r>
              <a:rPr lang="el-G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κρίσιμος παράγοντας κινδύνου</a:t>
            </a:r>
            <a:r>
              <a:rPr lang="el-G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Στο γράφημα βλέπουμε ότι στην ομάδα που </a:t>
            </a:r>
            <a:r>
              <a:rPr lang="el-GR" i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ανέπτυξε </a:t>
            </a:r>
            <a:r>
              <a:rPr lang="en-US" i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CVD</a:t>
            </a:r>
            <a:r>
              <a:rPr lang="el-GR" i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στα 20 χρόνια </a:t>
            </a:r>
            <a:r>
              <a:rPr lang="el-G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(κόκκινο), το </a:t>
            </a:r>
            <a:r>
              <a:rPr lang="el-GR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ποσοστό των υπερτασικών </a:t>
            </a:r>
            <a:r>
              <a:rPr lang="el-G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(1) είναι </a:t>
            </a:r>
            <a:r>
              <a:rPr lang="el-GR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διπλάσιο</a:t>
            </a:r>
            <a:r>
              <a:rPr lang="el-G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σε </a:t>
            </a:r>
            <a:r>
              <a:rPr lang="el-GR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σχέση με την ομάδα ελέγχου</a:t>
            </a:r>
            <a:r>
              <a:rPr lang="el-G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endParaRPr lang="en-US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l-GR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Αντίστοιχα </a:t>
            </a:r>
            <a:r>
              <a:rPr lang="el-G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αποτελέσματα, αν και λιγότερο έντονα, είχαμε και για το κάπνισμα.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289" y="3335234"/>
            <a:ext cx="4305922" cy="337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51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5 | Light cream paper texture Images - Free Download on Freepik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1999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255560"/>
            <a:ext cx="5105400" cy="324649"/>
          </a:xfrm>
          <a:prstGeom prst="rect">
            <a:avLst/>
          </a:prstGeom>
          <a:solidFill>
            <a:schemeClr val="accent2">
              <a:lumMod val="40000"/>
              <a:lumOff val="60000"/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6903" y="233218"/>
            <a:ext cx="51642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Πρόβλεψη Κινδύνου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(Logistic Regression &amp; ROC)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046" y="858111"/>
            <a:ext cx="5804622" cy="46633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87124" y="602550"/>
            <a:ext cx="4907419" cy="3817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Εφαρμόστηκε </a:t>
            </a:r>
            <a:r>
              <a:rPr lang="el-GR" sz="2000" i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Λογιστική Παλινδρόμηση</a:t>
            </a: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Για την έκβαση των </a:t>
            </a:r>
            <a:r>
              <a:rPr lang="el-GR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 ετών</a:t>
            </a: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το μοντέλο </a:t>
            </a:r>
            <a:r>
              <a:rPr lang="el-GR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πέτυχε εξαιρετική προγνωστική ικανότητα</a:t>
            </a: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με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AUC</a:t>
            </a:r>
            <a:r>
              <a:rPr lang="el-GR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0.917</a:t>
            </a: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Ο </a:t>
            </a:r>
            <a:r>
              <a:rPr lang="el-GR" sz="20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σημαντικότερος</a:t>
            </a: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προγνωστικός </a:t>
            </a:r>
            <a:r>
              <a:rPr lang="el-GR" sz="20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δείκτης</a:t>
            </a: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είναι η ηλικία (</a:t>
            </a:r>
            <a:r>
              <a:rPr lang="en-US" sz="20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όπου </a:t>
            </a:r>
            <a:r>
              <a:rPr lang="el-GR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κάθε</a:t>
            </a: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έτος</a:t>
            </a: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αύξησης </a:t>
            </a:r>
            <a:r>
              <a:rPr lang="el-GR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αυξάνει τον κίνδυνο κατά 23% </a:t>
            </a: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=1.230</a:t>
            </a:r>
            <a:r>
              <a:rPr lang="el-GR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l-GR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l-GR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νώ </a:t>
            </a: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η γυναικεία φύση φαίνεται να έχει αυξημένο λόγο πιθανοτήτων, αν και με ευρύ διάστημα εμπιστοσύνης.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996" y="5027512"/>
            <a:ext cx="4002171" cy="172570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155072" y="4842846"/>
            <a:ext cx="2959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err="1"/>
              <a:t>Odds</a:t>
            </a:r>
            <a:r>
              <a:rPr lang="fr-FR" b="1" dirty="0"/>
              <a:t> Ratios &amp; 95% CI: cvd10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2746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5 | Light cream paper texture Images - Free Download on Freepik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1999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522514"/>
            <a:ext cx="12192000" cy="767595"/>
          </a:xfrm>
          <a:prstGeom prst="rect">
            <a:avLst/>
          </a:prstGeom>
          <a:solidFill>
            <a:schemeClr val="accent2">
              <a:lumMod val="40000"/>
              <a:lumOff val="60000"/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543238" y="522514"/>
            <a:ext cx="3645550" cy="718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l-G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Συμπεράσματα 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9067" y="2255568"/>
            <a:ext cx="12033504" cy="2346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l-GR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Η </a:t>
            </a:r>
            <a:r>
              <a:rPr lang="el-GR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μακροχρόνια πρόβλεψη (</a:t>
            </a:r>
            <a:r>
              <a:rPr lang="en-US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CVD</a:t>
            </a:r>
            <a:r>
              <a:rPr lang="el-GR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20)</a:t>
            </a:r>
            <a:r>
              <a:rPr lang="el-GR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είναι πιο </a:t>
            </a:r>
            <a:r>
              <a:rPr lang="el-GR" sz="2400" b="1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ακριβής</a:t>
            </a:r>
            <a:r>
              <a:rPr lang="el-GR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από τη </a:t>
            </a:r>
            <a:r>
              <a:rPr lang="el-GR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βραχυχρόνια (</a:t>
            </a:r>
            <a:r>
              <a:rPr lang="en-US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CVD</a:t>
            </a:r>
            <a:r>
              <a:rPr lang="el-GR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10).</a:t>
            </a:r>
            <a:endParaRPr lang="en-US" sz="24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l-G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Η </a:t>
            </a:r>
            <a:r>
              <a:rPr lang="el-G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Ηλικία</a:t>
            </a:r>
            <a:r>
              <a:rPr lang="el-G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και η </a:t>
            </a:r>
            <a:r>
              <a:rPr lang="el-G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Συστολική Πίεση</a:t>
            </a:r>
            <a:r>
              <a:rPr lang="el-G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είναι οι κυρίαρχοι παράγοντες</a:t>
            </a:r>
            <a:r>
              <a:rPr lang="el-GR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l-G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Το μοντέλο μας μπορεί να διαχωρίσει τους ασθενείς με ακρίβεια &gt;90% (βάσει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AUC</a:t>
            </a:r>
            <a:r>
              <a:rPr lang="el-G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278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324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Spyros Tsl.</dc:creator>
  <cp:lastModifiedBy>Spyros Tsl.</cp:lastModifiedBy>
  <cp:revision>3</cp:revision>
  <dcterms:created xsi:type="dcterms:W3CDTF">2026-02-10T13:48:57Z</dcterms:created>
  <dcterms:modified xsi:type="dcterms:W3CDTF">2026-09-01T16:30:36Z</dcterms:modified>
</cp:coreProperties>
</file>